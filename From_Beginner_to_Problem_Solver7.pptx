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youtu.be/rQoqCP7LX60?si=ISpB4Z2qSxN96SyM" TargetMode="External"/><Relationship Id="rId3" Type="http://schemas.openxmlformats.org/officeDocument/2006/relationships/hyperlink" Target="https://takeuforward.org/" TargetMode="External"/><Relationship Id="rId4" Type="http://schemas.openxmlformats.org/officeDocument/2006/relationships/hyperlink" Target="https://www.tle-eliminators.com/cp-sheet" TargetMode="External"/><Relationship Id="rId5" Type="http://schemas.openxmlformats.org/officeDocument/2006/relationships/hyperlink" Target="https://codolio.com/" TargetMode="External"/><Relationship Id="rId6" Type="http://schemas.openxmlformats.org/officeDocument/2006/relationships/hyperlink" Target="https://www.notion.com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🚀 From Beginner to Problem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/>
            </a:pPr>
            <a:r>
              <a:t>DSA &amp; Competitive Programming Roadmap for Juniors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Learn → Practice → Track → Improve → Repeat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/>
            </a:pPr>
            <a:r>
              <a:t>Created by Megh Naik • Junior Guidance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🎯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Starting DSA and Competitive Programming can feel confusing because there are too many resources.</a:t>
            </a:r>
          </a:p>
          <a:p>
            <a:pPr>
              <a:spcAft>
                <a:spcPts val="1200"/>
              </a:spcAft>
              <a:defRPr sz="2100"/>
            </a:pPr>
            <a:r>
              <a:t>This roadmap gives you a simple and structured path.</a:t>
            </a:r>
          </a:p>
          <a:p>
            <a:pPr>
              <a:spcAft>
                <a:spcPts val="1200"/>
              </a:spcAft>
              <a:defRPr sz="2100"/>
            </a:pPr>
            <a:r>
              <a:t>The goal is not to complete resources as quickly as possible.</a:t>
            </a:r>
          </a:p>
          <a:p>
            <a:pPr>
              <a:spcAft>
                <a:spcPts val="1200"/>
              </a:spcAft>
              <a:defRPr sz="2100"/>
            </a:pPr>
            <a:r>
              <a:t>The goal is to become a better problem solver.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🗺️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 Programming</a:t>
            </a:r>
          </a:p>
          <a:p>
            <a:pPr>
              <a:spcAft>
                <a:spcPts val="1200"/>
              </a:spcAft>
              <a:defRPr sz="1900"/>
            </a:pPr>
            <a:r>
              <a:t>↓  Problem-Solving Basics</a:t>
            </a:r>
          </a:p>
          <a:p>
            <a:pPr>
              <a:spcAft>
                <a:spcPts val="1200"/>
              </a:spcAft>
              <a:defRPr sz="1900"/>
            </a:pPr>
            <a:r>
              <a:t>DSA — TUF A2Z Sheet</a:t>
            </a:r>
          </a:p>
          <a:p>
            <a:pPr>
              <a:spcAft>
                <a:spcPts val="1200"/>
              </a:spcAft>
              <a:defRPr sz="1900"/>
            </a:pPr>
            <a:r>
              <a:t>↓  Algorithmic Thinking</a:t>
            </a:r>
          </a:p>
          <a:p>
            <a:pPr>
              <a:spcAft>
                <a:spcPts val="1200"/>
              </a:spcAft>
              <a:defRPr sz="1900"/>
            </a:pPr>
            <a:r>
              <a:t>Competitive Programming — CP-31</a:t>
            </a:r>
          </a:p>
          <a:p>
            <a:pPr>
              <a:spcAft>
                <a:spcPts val="1200"/>
              </a:spcAft>
              <a:defRPr sz="1900"/>
            </a:pPr>
            <a:r>
              <a:t>↓  Track Progress — Codolio</a:t>
            </a:r>
          </a:p>
          <a:p>
            <a:pPr>
              <a:spcAft>
                <a:spcPts val="1200"/>
              </a:spcAft>
              <a:defRPr sz="1900"/>
            </a:pPr>
            <a:r>
              <a:t>↓  Plan &amp; Organize — Notion</a:t>
            </a:r>
          </a:p>
          <a:p>
            <a:pPr>
              <a:spcAft>
                <a:spcPts val="1200"/>
              </a:spcAft>
              <a:defRPr sz="1900"/>
            </a:pPr>
            <a:r>
              <a:t>Consistent Practice → Better Problem Solver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1️⃣ C Programming — College Wallah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Build your programming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Start here if you are completely new to programming.</a:t>
            </a:r>
          </a:p>
          <a:p>
            <a:pPr>
              <a:spcAft>
                <a:spcPts val="1200"/>
              </a:spcAft>
              <a:defRPr sz="2000"/>
            </a:pPr>
            <a:r>
              <a:t>Focus: Input/Output, Variables, Operators, Conditions, Loops, Functions, Arrays, Strings and Pointers.</a:t>
            </a:r>
          </a:p>
          <a:p>
            <a:pPr>
              <a:spcAft>
                <a:spcPts val="1200"/>
              </a:spcAft>
              <a:defRPr sz="2000"/>
            </a:pPr>
            <a:r>
              <a:t>Don't just watch lectures — write every program yourself.</a:t>
            </a:r>
          </a:p>
          <a:p>
            <a:pPr>
              <a:spcAft>
                <a:spcPts val="1200"/>
              </a:spcAft>
              <a:defRPr sz="2000"/>
            </a:pPr>
            <a:r>
              <a:t>Watch → Understand → Code Yourself → Solve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2️⃣ DSA — TUF A2Z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A structured DSA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Start after becoming comfortable with programming fundamentals.</a:t>
            </a:r>
          </a:p>
          <a:p>
            <a:pPr>
              <a:spcAft>
                <a:spcPts val="1200"/>
              </a:spcAft>
              <a:defRPr sz="1900"/>
            </a:pPr>
            <a:r>
              <a:t>You can learn C++ syntax separately from any good source.</a:t>
            </a:r>
          </a:p>
          <a:p>
            <a:pPr>
              <a:spcAft>
                <a:spcPts val="1200"/>
              </a:spcAft>
              <a:defRPr sz="1900"/>
            </a:pPr>
            <a:r>
              <a:t>Topics: Arrays, Sorting, Binary Search, Strings, Recursion, Linked List, Stack &amp; Queue.</a:t>
            </a:r>
          </a:p>
          <a:p>
            <a:pPr>
              <a:spcAft>
                <a:spcPts val="1200"/>
              </a:spcAft>
              <a:defRPr sz="1900"/>
            </a:pPr>
            <a:r>
              <a:t>Then move to Sliding Window, Greedy, Trees, BST, Graphs, Dynamic Programming, Tries and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🧠 DSA Problem-Solving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Understand the problem</a:t>
            </a:r>
          </a:p>
          <a:p>
            <a:pPr>
              <a:spcAft>
                <a:spcPts val="1200"/>
              </a:spcAft>
              <a:defRPr sz="2000"/>
            </a:pPr>
            <a:r>
              <a:t>2. Think for yourself</a:t>
            </a:r>
          </a:p>
          <a:p>
            <a:pPr>
              <a:spcAft>
                <a:spcPts val="1200"/>
              </a:spcAft>
              <a:defRPr sz="2000"/>
            </a:pPr>
            <a:r>
              <a:t>3. Try to solve it</a:t>
            </a:r>
          </a:p>
          <a:p>
            <a:pPr>
              <a:spcAft>
                <a:spcPts val="1200"/>
              </a:spcAft>
              <a:defRPr sz="2000"/>
            </a:pPr>
            <a:r>
              <a:t>4. If stuck, study the approach</a:t>
            </a:r>
          </a:p>
          <a:p>
            <a:pPr>
              <a:spcAft>
                <a:spcPts val="1200"/>
              </a:spcAft>
              <a:defRPr sz="2000"/>
            </a:pPr>
            <a:r>
              <a:t>5. Implement it yourself</a:t>
            </a:r>
          </a:p>
          <a:p>
            <a:pPr>
              <a:spcAft>
                <a:spcPts val="1200"/>
              </a:spcAft>
              <a:defRPr sz="2000"/>
            </a:pPr>
            <a:r>
              <a:t>6. Understand the complexity</a:t>
            </a:r>
          </a:p>
          <a:p>
            <a:pPr>
              <a:spcAft>
                <a:spcPts val="1200"/>
              </a:spcAft>
              <a:defRPr sz="2000"/>
            </a:pPr>
            <a:r>
              <a:t>7. Revisit difficult problems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3️⃣ Competitive Programming — CP-31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Start CP gradually after building basic DSA skills.</a:t>
            </a:r>
          </a:p>
          <a:p>
            <a:pPr>
              <a:spcAft>
                <a:spcPts val="1200"/>
              </a:spcAft>
              <a:defRPr sz="1900"/>
            </a:pPr>
            <a:r>
              <a:t>CP-31 provides problems organized around Codeforces ratings.</a:t>
            </a:r>
          </a:p>
          <a:p>
            <a:pPr>
              <a:spcAft>
                <a:spcPts val="1200"/>
              </a:spcAft>
              <a:defRPr sz="1900"/>
            </a:pPr>
            <a:r>
              <a:t>Develop: constraint thinking, pattern recognition, implementation speed, mathematical and greedy thinking.</a:t>
            </a:r>
          </a:p>
          <a:p>
            <a:pPr>
              <a:spcAft>
                <a:spcPts val="1200"/>
              </a:spcAft>
              <a:defRPr sz="1900"/>
            </a:pPr>
            <a:r>
              <a:t>Start from a comfortable rating and gradually move upward.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⚔️ After Every Contest: Upsolve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Contest → Check unsolved problems → Try again</a:t>
            </a:r>
          </a:p>
          <a:p>
            <a:pPr>
              <a:spcAft>
                <a:spcPts val="1200"/>
              </a:spcAft>
              <a:defRPr sz="2100"/>
            </a:pPr>
            <a:r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t>Read editorial / solution if needed</a:t>
            </a:r>
          </a:p>
          <a:p>
            <a:pPr>
              <a:spcAft>
                <a:spcPts val="1200"/>
              </a:spcAft>
              <a:defRPr sz="2100"/>
            </a:pPr>
            <a:r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t>Understand the idea → Implement it yourself</a:t>
            </a:r>
          </a:p>
          <a:p>
            <a:pPr>
              <a:spcAft>
                <a:spcPts val="1200"/>
              </a:spcAft>
              <a:defRPr sz="2100"/>
            </a:pPr>
            <a:r>
              <a:t>↓</a:t>
            </a:r>
          </a:p>
          <a:p>
            <a:pPr>
              <a:spcAft>
                <a:spcPts val="1200"/>
              </a:spcAft>
              <a:defRPr sz="2100"/>
            </a:pPr>
            <a:r>
              <a:t>Upsolve and learn from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4️⃣ Codolio — Track Your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Track solved problems and DSA progress.</a:t>
            </a:r>
          </a:p>
          <a:p>
            <a:pPr>
              <a:spcAft>
                <a:spcPts val="1200"/>
              </a:spcAft>
              <a:defRPr sz="2100"/>
            </a:pPr>
            <a:r>
              <a:t>Keep your coding profiles and problem-solving journey organized.</a:t>
            </a:r>
          </a:p>
          <a:p>
            <a:pPr>
              <a:spcAft>
                <a:spcPts val="1200"/>
              </a:spcAft>
              <a:defRPr sz="2100"/>
            </a:pPr>
            <a:r>
              <a:t>Use your history to identify weak areas.</a:t>
            </a:r>
          </a:p>
          <a:p>
            <a:pPr>
              <a:spcAft>
                <a:spcPts val="1200"/>
              </a:spcAft>
              <a:defRPr sz="2100"/>
            </a:pPr>
            <a:r>
              <a:t>Update your progress regularly.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5️⃣ Notion — Productivity &amp;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Use Notion for weekly goals, notes, mistakes and revision.</a:t>
            </a:r>
          </a:p>
          <a:p>
            <a:pPr>
              <a:spcAft>
                <a:spcPts val="1200"/>
              </a:spcAft>
              <a:defRPr sz="2000"/>
            </a:pPr>
            <a:r>
              <a:t>Keep it simple: Goals → DSA → CP → Revision → Mistakes → Weekly Review.</a:t>
            </a:r>
          </a:p>
          <a:p>
            <a:pPr>
              <a:spcAft>
                <a:spcPts val="1200"/>
              </a:spcAft>
              <a:defRPr sz="2000"/>
            </a:pPr>
            <a:r>
              <a:t>Don't spend hours designing the perfect dashboard.</a:t>
            </a:r>
          </a:p>
          <a:p>
            <a:pPr>
              <a:spcAft>
                <a:spcPts val="1200"/>
              </a:spcAft>
              <a:defRPr sz="2000"/>
            </a:pPr>
            <a:r>
              <a:t>Productivity tools should help you study — not become another thing to study.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🔄 How to Use These Resources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College Wallah → Learn Programming Fundamentals</a:t>
            </a:r>
          </a:p>
          <a:p>
            <a:pPr>
              <a:spcAft>
                <a:spcPts val="1200"/>
              </a:spcAft>
              <a:defRPr sz="2200"/>
            </a:pPr>
            <a:r>
              <a:t>TUF A2Z → Learn &amp; Practice DSA</a:t>
            </a:r>
          </a:p>
          <a:p>
            <a:pPr>
              <a:spcAft>
                <a:spcPts val="1200"/>
              </a:spcAft>
              <a:defRPr sz="2200"/>
            </a:pPr>
            <a:r>
              <a:t>CP-31 → Develop Competitive Programming Skills</a:t>
            </a:r>
          </a:p>
          <a:p>
            <a:pPr>
              <a:spcAft>
                <a:spcPts val="1200"/>
              </a:spcAft>
              <a:defRPr sz="2200"/>
            </a:pPr>
            <a:r>
              <a:t>Codolio → Track Coding Progress</a:t>
            </a:r>
          </a:p>
          <a:p>
            <a:pPr>
              <a:spcAft>
                <a:spcPts val="1200"/>
              </a:spcAft>
              <a:defRPr sz="2200"/>
            </a:pPr>
            <a:r>
              <a:t>Notion → Plan, Organize &amp; Maintain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🔥 Rules for Your Coding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❌ Don't keep switching resources.</a:t>
            </a:r>
          </a:p>
          <a:p>
            <a:pPr>
              <a:spcAft>
                <a:spcPts val="1200"/>
              </a:spcAft>
              <a:defRPr sz="1900"/>
            </a:pPr>
            <a:r>
              <a:t>❌ Don't copy solutions without understanding.</a:t>
            </a:r>
          </a:p>
          <a:p>
            <a:pPr>
              <a:spcAft>
                <a:spcPts val="1200"/>
              </a:spcAft>
              <a:defRPr sz="1900"/>
            </a:pPr>
            <a:r>
              <a:t>❌ Don't compare your beginning with someone else's progress.</a:t>
            </a:r>
          </a:p>
          <a:p>
            <a:pPr>
              <a:spcAft>
                <a:spcPts val="1200"/>
              </a:spcAft>
              <a:defRPr sz="1900"/>
            </a:pPr>
            <a:r>
              <a:t>✅ Try problems yourself first.</a:t>
            </a:r>
          </a:p>
          <a:p>
            <a:pPr>
              <a:spcAft>
                <a:spcPts val="1200"/>
              </a:spcAft>
              <a:defRPr sz="1900"/>
            </a:pPr>
            <a:r>
              <a:t>✅ Learn from wrong answers and difficult problems.</a:t>
            </a:r>
          </a:p>
          <a:p>
            <a:pPr>
              <a:spcAft>
                <a:spcPts val="1200"/>
              </a:spcAft>
              <a:defRPr sz="1900"/>
            </a:pPr>
            <a:r>
              <a:t>✅ Participate in contests and upsolve.</a:t>
            </a:r>
          </a:p>
          <a:p>
            <a:pPr>
              <a:spcAft>
                <a:spcPts val="1200"/>
              </a:spcAft>
              <a:defRPr sz="1900"/>
            </a:pPr>
            <a:r>
              <a:t>✅ Stay consistent.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🔗 Quick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u="sng">
                <a:hlinkClick r:id="rId2"/>
              </a:rPr>
              <a:t>🎥 College Wallah — C Programming: https://youtu.be/rQoqCP7LX60</a:t>
            </a:r>
          </a:p>
          <a:p>
            <a:pPr>
              <a:spcAft>
                <a:spcPts val="1200"/>
              </a:spcAft>
              <a:defRPr sz="1800"/>
            </a:pPr>
            <a:r>
              <a:rPr u="sng">
                <a:hlinkClick r:id="rId3"/>
              </a:rPr>
              <a:t>🧠 TUF — A2Z DSA: https://takeuforward.org/</a:t>
            </a:r>
          </a:p>
          <a:p>
            <a:pPr>
              <a:spcAft>
                <a:spcPts val="1200"/>
              </a:spcAft>
              <a:defRPr sz="1800"/>
            </a:pPr>
            <a:r>
              <a:rPr u="sng">
                <a:hlinkClick r:id="rId4"/>
              </a:rPr>
              <a:t>⚔️ CP-31: https://www.tle-eliminators.com/cp-sheet</a:t>
            </a:r>
          </a:p>
          <a:p>
            <a:pPr>
              <a:spcAft>
                <a:spcPts val="1200"/>
              </a:spcAft>
              <a:defRPr sz="1800"/>
            </a:pPr>
            <a:r>
              <a:rPr u="sng">
                <a:hlinkClick r:id="rId5"/>
              </a:rPr>
              <a:t>📊 Codolio: https://codolio.com/</a:t>
            </a:r>
          </a:p>
          <a:p>
            <a:pPr>
              <a:spcAft>
                <a:spcPts val="1200"/>
              </a:spcAft>
              <a:defRPr sz="1800"/>
            </a:pPr>
            <a:r>
              <a:rPr u="sng">
                <a:hlinkClick r:id="rId6"/>
              </a:rPr>
              <a:t>📝 Notion: https://www.notion.com/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🌟 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/>
            </a:pPr>
            <a:r>
              <a:t>You don't need to be great to start.</a:t>
            </a:r>
          </a:p>
          <a:p>
            <a:pPr>
              <a:spcAft>
                <a:spcPts val="1200"/>
              </a:spcAft>
              <a:defRPr sz="2300"/>
            </a:pPr>
            <a:r>
              <a:t>Start with one language.</a:t>
            </a:r>
          </a:p>
          <a:p>
            <a:pPr>
              <a:spcAft>
                <a:spcPts val="1200"/>
              </a:spcAft>
              <a:defRPr sz="2300"/>
            </a:pPr>
            <a:r>
              <a:t>Solve one problem.</a:t>
            </a:r>
          </a:p>
          <a:p>
            <a:pPr>
              <a:spcAft>
                <a:spcPts val="1200"/>
              </a:spcAft>
              <a:defRPr sz="2300"/>
            </a:pPr>
            <a:r>
              <a:t>Learn from one mistake.</a:t>
            </a:r>
          </a:p>
          <a:p>
            <a:pPr>
              <a:spcAft>
                <a:spcPts val="1200"/>
              </a:spcAft>
              <a:defRPr sz="2300"/>
            </a:pPr>
            <a:r>
              <a:t>Repeat tomorrow.</a:t>
            </a:r>
          </a:p>
          <a:p>
            <a:pPr>
              <a:spcAft>
                <a:spcPts val="1200"/>
              </a:spcAft>
              <a:defRPr sz="2300"/>
            </a:pPr>
          </a:p>
          <a:p>
            <a:pPr>
              <a:spcAft>
                <a:spcPts val="1200"/>
              </a:spcAft>
              <a:defRPr sz="2300"/>
            </a:pPr>
            <a:r>
              <a:t>Learn → Practice → Compete → Improve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Created by Megh Naik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